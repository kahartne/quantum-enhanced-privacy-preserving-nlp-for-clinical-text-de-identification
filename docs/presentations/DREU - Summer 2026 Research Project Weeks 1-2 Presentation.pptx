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Urbanist" panose="020B0604020202020204" charset="0"/>
      <p:regular r:id="rId12"/>
      <p:bold r:id="rId13"/>
      <p:italic r:id="rId14"/>
      <p:boldItalic r:id="rId15"/>
    </p:embeddedFont>
    <p:embeddedFont>
      <p:font typeface="Urbanist Medium" panose="020B0604020202020204" charset="0"/>
      <p:regular r:id="rId16"/>
      <p:bold r:id="rId17"/>
      <p:italic r:id="rId18"/>
      <p:boldItalic r:id="rId19"/>
    </p:embeddedFont>
    <p:embeddedFont>
      <p:font typeface="Urbanist SemiBold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55de6a7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f55de6a7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55de6a71d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f55de6a71d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55de6a71d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f55de6a71d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55de6a71d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f55de6a71d_0_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f55de6a71d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f55de6a71d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55de6a71d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f55de6a71d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f55de6a71d_0_4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f55de6a71d_0_4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55de6a71d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f55de6a71d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f55de6a71d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f55de6a71d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l="3134" t="16786" r="7835" b="8145"/>
          <a:stretch/>
        </p:blipFill>
        <p:spPr>
          <a:xfrm rot="10800000" flipH="1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20;p2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4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6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6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6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6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r="15469" b="14588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7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3" name="Google Shape;83;p7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8" name="Google Shape;88;p7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7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7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7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9" name="Google Shape;99;p8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4" name="Google Shape;104;p8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6" name="Google Shape;106;p8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7" name="Google Shape;107;p8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9" name="Google Shape;109;p8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0" name="Google Shape;110;p8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2" name="Google Shape;112;p8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3" name="Google Shape;113;p8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5" name="Google Shape;115;p8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6" name="Google Shape;116;p8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8" name="Google Shape;118;p8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8" name="Google Shape;128;p9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5" name="Google Shape;135;p10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1" name="Google Shape;141;p10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" name="Google Shape;143;p10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4" name="Google Shape;144;p10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5" name="Google Shape;145;p10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7" name="Google Shape;147;p10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9" name="Google Shape;149;p10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" name="Google Shape;151;p10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2" name="Google Shape;152;p10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3" name="Google Shape;153;p10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5" name="Google Shape;155;p10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" name="Google Shape;156;p10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1" descr="Oval black shapes against a shadowy background. "/>
          <p:cNvPicPr preferRelativeResize="0"/>
          <p:nvPr/>
        </p:nvPicPr>
        <p:blipFill rotWithShape="1">
          <a:blip r:embed="rId2">
            <a:alphaModFix/>
          </a:blip>
          <a:srcRect l="17241" t="35" r="25039" b="42245"/>
          <a:stretch/>
        </p:blipFill>
        <p:spPr>
          <a:xfrm>
            <a:off x="0" y="-289"/>
            <a:ext cx="9144000" cy="51441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2" name="Google Shape;162;p11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3" name="Google Shape;163;p1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4" name="Google Shape;164;p1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5" name="Google Shape;165;p1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6" name="Google Shape;166;p1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74" name="Google Shape;174;p12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6" name="Google Shape;176;p12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7" name="Google Shape;177;p12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8" name="Google Shape;178;p12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9" name="Google Shape;179;p1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06" name="Google Shape;206;p1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8" name="Google Shape;208;p14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4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1" name="Google Shape;211;p14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4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3" name="Google Shape;213;p14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4" name="Google Shape;214;p14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14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7" name="Google Shape;217;p14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9" name="Google Shape;219;p14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5" name="Google Shape;225;p15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6" name="Google Shape;226;p15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9" name="Google Shape;229;p15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15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15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3" name="Google Shape;233;p15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4" name="Google Shape;234;p15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15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15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7" name="Google Shape;237;p15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15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15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40" name="Google Shape;240;p15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15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7" name="Google Shape;247;p1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48" name="Google Shape;248;p1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49" name="Google Shape;249;p1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1" name="Google Shape;251;p16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252" name="Google Shape;252;p16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6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4" name="Google Shape;254;p16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5" name="Google Shape;255;p16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61" name="Google Shape;261;p1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17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69" name="Google Shape;269;p17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7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1" name="Google Shape;271;p17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4" name="Google Shape;274;p17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5" name="Google Shape;275;p17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0" name="Google Shape;280;p17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1" name="Google Shape;281;p17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2" name="Google Shape;282;p17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3" name="Google Shape;283;p17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4" name="Google Shape;284;p17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5" name="Google Shape;285;p17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90" name="Google Shape;290;p18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292" name="Google Shape;292;p18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94" name="Google Shape;294;p18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5" name="Google Shape;295;p18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6" name="Google Shape;296;p18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7" name="Google Shape;297;p18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9" name="Google Shape;299;p1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00" name="Google Shape;300;p18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1" name="Google Shape;301;p18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2" name="Google Shape;302;p18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3" name="Google Shape;303;p18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4" name="Google Shape;304;p18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8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6" name="Google Shape;306;p18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7" name="Google Shape;307;p18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8" name="Google Shape;308;p18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9" name="Google Shape;309;p18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18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1" name="Google Shape;311;p18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18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3" name="Google Shape;313;p18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18" name="Google Shape;318;p1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19" name="Google Shape;319;p1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19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19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6" name="Google Shape;326;p19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7" name="Google Shape;327;p19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328" name="Google Shape;328;p19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19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0" name="Google Shape;330;p19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1" name="Google Shape;331;p19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2" name="Google Shape;332;p19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5" name="Google Shape;335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44" name="Google Shape;344;p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9" name="Google Shape;349;p2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4" name="Google Shape;354;p2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5" name="Google Shape;355;p2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3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5" name="Google Shape;365;p3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6" name="Google Shape;366;p3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7" name="Google Shape;367;p3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8" name="Google Shape;368;p3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9" name="Google Shape;369;p3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3" name="Google Shape;373;p3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3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7" name="Google Shape;377;p3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3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9" name="Google Shape;379;p3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2" name="Google Shape;382;p3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3" name="Google Shape;383;p3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3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5" name="Google Shape;385;p3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6" name="Google Shape;386;p3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7" name="Google Shape;387;p3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0" name="Google Shape;390;p3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1" name="Google Shape;391;p3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2" name="Google Shape;392;p3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3" name="Google Shape;393;p3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3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5" name="Google Shape;395;p3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6" name="Google Shape;396;p3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7" name="Google Shape;397;p3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3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3" name="Google Shape;403;p3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6" name="Google Shape;40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3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8" name="Google Shape;408;p3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1" name="Google Shape;411;p3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4" name="Google Shape;414;p3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6" name="Google Shape;416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3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8" name="Google Shape;418;p3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9" name="Google Shape;419;p3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4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38" name="Google Shape;438;p41"/>
          <p:cNvGrpSpPr/>
          <p:nvPr/>
        </p:nvGrpSpPr>
        <p:grpSpPr>
          <a:xfrm>
            <a:off x="228591" y="3127350"/>
            <a:ext cx="233094" cy="233094"/>
            <a:chOff x="259788" y="1923155"/>
            <a:chExt cx="409800" cy="409800"/>
          </a:xfrm>
        </p:grpSpPr>
        <p:sp>
          <p:nvSpPr>
            <p:cNvPr id="439" name="Google Shape;439;p41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40" name="Google Shape;440;p41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41" name="Google Shape;441;p41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2" name="Google Shape;442;p41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43" name="Google Shape;443;p41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Quantum HPC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3000">
                <a:solidFill>
                  <a:schemeClr val="lt1"/>
                </a:solidFill>
              </a:rPr>
              <a:t>Framework for Benchmarking &amp; Scalability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444" name="Google Shape;444;p4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DREU</a:t>
            </a:r>
            <a:endParaRPr/>
          </a:p>
        </p:txBody>
      </p:sp>
      <p:sp>
        <p:nvSpPr>
          <p:cNvPr id="445" name="Google Shape;445;p4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</a:t>
            </a:r>
            <a:endParaRPr/>
          </a:p>
        </p:txBody>
      </p:sp>
      <p:sp>
        <p:nvSpPr>
          <p:cNvPr id="446" name="Google Shape;446;p4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447" name="Google Shape;447;p41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Kyle Hartness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48" name="Google Shape;448;p41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DREU - Summer 2026 Research Project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41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2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42"/>
          <p:cNvSpPr/>
          <p:nvPr/>
        </p:nvSpPr>
        <p:spPr>
          <a:xfrm>
            <a:off x="4618950" y="906375"/>
            <a:ext cx="4296600" cy="6057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42"/>
          <p:cNvSpPr/>
          <p:nvPr/>
        </p:nvSpPr>
        <p:spPr>
          <a:xfrm>
            <a:off x="4618950" y="1584175"/>
            <a:ext cx="4296600" cy="6057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7" name="Google Shape;457;p42"/>
          <p:cNvSpPr/>
          <p:nvPr/>
        </p:nvSpPr>
        <p:spPr>
          <a:xfrm>
            <a:off x="4618950" y="2261950"/>
            <a:ext cx="4296900" cy="6057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8" name="Google Shape;458;p42"/>
          <p:cNvSpPr/>
          <p:nvPr/>
        </p:nvSpPr>
        <p:spPr>
          <a:xfrm>
            <a:off x="4618950" y="2939750"/>
            <a:ext cx="4296600" cy="6057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9" name="Google Shape;459;p42"/>
          <p:cNvSpPr/>
          <p:nvPr/>
        </p:nvSpPr>
        <p:spPr>
          <a:xfrm>
            <a:off x="4618950" y="3617525"/>
            <a:ext cx="4296900" cy="6057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60" name="Google Shape;460;p42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461" name="Google Shape;461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62" name="Google Shape;462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63" name="Google Shape;463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4" name="Google Shape;464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65" name="Google Shape;465;p42"/>
          <p:cNvGrpSpPr/>
          <p:nvPr/>
        </p:nvGrpSpPr>
        <p:grpSpPr>
          <a:xfrm rot="-5400000">
            <a:off x="8556505" y="1108560"/>
            <a:ext cx="204654" cy="204654"/>
            <a:chOff x="259788" y="1923155"/>
            <a:chExt cx="409800" cy="409800"/>
          </a:xfrm>
        </p:grpSpPr>
        <p:sp>
          <p:nvSpPr>
            <p:cNvPr id="466" name="Google Shape;466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67" name="Google Shape;467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68" name="Google Shape;468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9" name="Google Shape;469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70" name="Google Shape;470;p42"/>
          <p:cNvGrpSpPr/>
          <p:nvPr/>
        </p:nvGrpSpPr>
        <p:grpSpPr>
          <a:xfrm rot="-5400000">
            <a:off x="8556505" y="1786345"/>
            <a:ext cx="204654" cy="204654"/>
            <a:chOff x="259788" y="1923155"/>
            <a:chExt cx="409800" cy="409800"/>
          </a:xfrm>
        </p:grpSpPr>
        <p:sp>
          <p:nvSpPr>
            <p:cNvPr id="471" name="Google Shape;471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72" name="Google Shape;472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73" name="Google Shape;473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4" name="Google Shape;474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75" name="Google Shape;475;p42"/>
          <p:cNvGrpSpPr/>
          <p:nvPr/>
        </p:nvGrpSpPr>
        <p:grpSpPr>
          <a:xfrm rot="-5400000">
            <a:off x="8556505" y="2464130"/>
            <a:ext cx="204654" cy="204654"/>
            <a:chOff x="259788" y="1923155"/>
            <a:chExt cx="409800" cy="409800"/>
          </a:xfrm>
        </p:grpSpPr>
        <p:sp>
          <p:nvSpPr>
            <p:cNvPr id="476" name="Google Shape;476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77" name="Google Shape;477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78" name="Google Shape;478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9" name="Google Shape;479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80" name="Google Shape;480;p42"/>
          <p:cNvGrpSpPr/>
          <p:nvPr/>
        </p:nvGrpSpPr>
        <p:grpSpPr>
          <a:xfrm rot="-5400000">
            <a:off x="8556505" y="3141915"/>
            <a:ext cx="204654" cy="204654"/>
            <a:chOff x="259788" y="1923155"/>
            <a:chExt cx="409800" cy="409800"/>
          </a:xfrm>
        </p:grpSpPr>
        <p:sp>
          <p:nvSpPr>
            <p:cNvPr id="481" name="Google Shape;481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82" name="Google Shape;482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83" name="Google Shape;483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4" name="Google Shape;484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85" name="Google Shape;485;p42"/>
          <p:cNvGrpSpPr/>
          <p:nvPr/>
        </p:nvGrpSpPr>
        <p:grpSpPr>
          <a:xfrm rot="-5400000">
            <a:off x="8556505" y="3819700"/>
            <a:ext cx="204654" cy="204654"/>
            <a:chOff x="259788" y="1923155"/>
            <a:chExt cx="409800" cy="409800"/>
          </a:xfrm>
        </p:grpSpPr>
        <p:sp>
          <p:nvSpPr>
            <p:cNvPr id="486" name="Google Shape;486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87" name="Google Shape;487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88" name="Google Shape;488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9" name="Google Shape;489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90" name="Google Shape;490;p42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DREU</a:t>
            </a:r>
            <a:endParaRPr/>
          </a:p>
        </p:txBody>
      </p:sp>
      <p:sp>
        <p:nvSpPr>
          <p:cNvPr id="491" name="Google Shape;491;p42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 </a:t>
            </a:r>
            <a:endParaRPr/>
          </a:p>
        </p:txBody>
      </p:sp>
      <p:sp>
        <p:nvSpPr>
          <p:cNvPr id="492" name="Google Shape;492;p42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493" name="Google Shape;493;p42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98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Overview</a:t>
            </a:r>
            <a:endParaRPr/>
          </a:p>
        </p:txBody>
      </p:sp>
      <p:sp>
        <p:nvSpPr>
          <p:cNvPr id="494" name="Google Shape;494;p42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95" name="Google Shape;495;p42"/>
          <p:cNvSpPr txBox="1">
            <a:spLocks noGrp="1"/>
          </p:cNvSpPr>
          <p:nvPr>
            <p:ph type="subTitle" idx="5"/>
          </p:nvPr>
        </p:nvSpPr>
        <p:spPr>
          <a:xfrm>
            <a:off x="4744575" y="10640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96" name="Google Shape;496;p42"/>
          <p:cNvSpPr txBox="1">
            <a:spLocks noGrp="1"/>
          </p:cNvSpPr>
          <p:nvPr>
            <p:ph type="subTitle" idx="6"/>
          </p:nvPr>
        </p:nvSpPr>
        <p:spPr>
          <a:xfrm>
            <a:off x="4744575" y="174102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97" name="Google Shape;497;p42"/>
          <p:cNvSpPr txBox="1">
            <a:spLocks noGrp="1"/>
          </p:cNvSpPr>
          <p:nvPr>
            <p:ph type="subTitle" idx="7"/>
          </p:nvPr>
        </p:nvSpPr>
        <p:spPr>
          <a:xfrm>
            <a:off x="4744575" y="2422306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98" name="Google Shape;498;p42"/>
          <p:cNvSpPr txBox="1">
            <a:spLocks noGrp="1"/>
          </p:cNvSpPr>
          <p:nvPr>
            <p:ph type="subTitle" idx="8"/>
          </p:nvPr>
        </p:nvSpPr>
        <p:spPr>
          <a:xfrm>
            <a:off x="4744575" y="3096606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99" name="Google Shape;499;p42"/>
          <p:cNvSpPr txBox="1">
            <a:spLocks noGrp="1"/>
          </p:cNvSpPr>
          <p:nvPr>
            <p:ph type="subTitle" idx="9"/>
          </p:nvPr>
        </p:nvSpPr>
        <p:spPr>
          <a:xfrm>
            <a:off x="4744575" y="3770931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500" name="Google Shape;500;p42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 Diagrams</a:t>
            </a:r>
            <a:endParaRPr/>
          </a:p>
        </p:txBody>
      </p:sp>
      <p:sp>
        <p:nvSpPr>
          <p:cNvPr id="501" name="Google Shape;501;p42"/>
          <p:cNvSpPr txBox="1">
            <a:spLocks noGrp="1"/>
          </p:cNvSpPr>
          <p:nvPr>
            <p:ph type="subTitle" idx="14"/>
          </p:nvPr>
        </p:nvSpPr>
        <p:spPr>
          <a:xfrm>
            <a:off x="5067075" y="10640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Project Folder Layout</a:t>
            </a:r>
            <a:endParaRPr/>
          </a:p>
        </p:txBody>
      </p:sp>
      <p:sp>
        <p:nvSpPr>
          <p:cNvPr id="502" name="Google Shape;502;p42"/>
          <p:cNvSpPr txBox="1">
            <a:spLocks noGrp="1"/>
          </p:cNvSpPr>
          <p:nvPr>
            <p:ph type="subTitle" idx="15"/>
          </p:nvPr>
        </p:nvSpPr>
        <p:spPr>
          <a:xfrm>
            <a:off x="5067075" y="1741025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ZZFeatureMap Circuit</a:t>
            </a:r>
            <a:endParaRPr/>
          </a:p>
        </p:txBody>
      </p:sp>
      <p:sp>
        <p:nvSpPr>
          <p:cNvPr id="503" name="Google Shape;503;p42"/>
          <p:cNvSpPr txBox="1">
            <a:spLocks noGrp="1"/>
          </p:cNvSpPr>
          <p:nvPr>
            <p:ph type="subTitle" idx="16"/>
          </p:nvPr>
        </p:nvSpPr>
        <p:spPr>
          <a:xfrm>
            <a:off x="5067075" y="2422306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Library Comparisons</a:t>
            </a:r>
            <a:endParaRPr/>
          </a:p>
        </p:txBody>
      </p:sp>
      <p:sp>
        <p:nvSpPr>
          <p:cNvPr id="504" name="Google Shape;504;p42"/>
          <p:cNvSpPr txBox="1">
            <a:spLocks noGrp="1"/>
          </p:cNvSpPr>
          <p:nvPr>
            <p:ph type="subTitle" idx="17"/>
          </p:nvPr>
        </p:nvSpPr>
        <p:spPr>
          <a:xfrm>
            <a:off x="5067075" y="3096606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AerSimulator</a:t>
            </a:r>
            <a:endParaRPr/>
          </a:p>
        </p:txBody>
      </p:sp>
      <p:sp>
        <p:nvSpPr>
          <p:cNvPr id="505" name="Google Shape;505;p42"/>
          <p:cNvSpPr txBox="1">
            <a:spLocks noGrp="1"/>
          </p:cNvSpPr>
          <p:nvPr>
            <p:ph type="subTitle" idx="18"/>
          </p:nvPr>
        </p:nvSpPr>
        <p:spPr>
          <a:xfrm>
            <a:off x="5067075" y="3770931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Future Work / My Path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3"/>
          <p:cNvSpPr txBox="1">
            <a:spLocks noGrp="1"/>
          </p:cNvSpPr>
          <p:nvPr>
            <p:ph type="title" idx="4294967295"/>
          </p:nvPr>
        </p:nvSpPr>
        <p:spPr>
          <a:xfrm>
            <a:off x="1197450" y="886474"/>
            <a:ext cx="1862100" cy="485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Weeks 1-2</a:t>
            </a:r>
            <a:endParaRPr sz="2500">
              <a:solidFill>
                <a:schemeClr val="accent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11" name="Google Shape;511;p43"/>
          <p:cNvSpPr txBox="1">
            <a:spLocks noGrp="1"/>
          </p:cNvSpPr>
          <p:nvPr>
            <p:ph type="subTitle" idx="4294967295"/>
          </p:nvPr>
        </p:nvSpPr>
        <p:spPr>
          <a:xfrm>
            <a:off x="1197450" y="1371875"/>
            <a:ext cx="1761900" cy="36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Quantum Circuits</a:t>
            </a:r>
            <a:endParaRPr/>
          </a:p>
        </p:txBody>
      </p:sp>
      <p:sp>
        <p:nvSpPr>
          <p:cNvPr id="512" name="Google Shape;512;p43"/>
          <p:cNvSpPr txBox="1">
            <a:spLocks noGrp="1"/>
          </p:cNvSpPr>
          <p:nvPr>
            <p:ph type="title"/>
          </p:nvPr>
        </p:nvSpPr>
        <p:spPr>
          <a:xfrm>
            <a:off x="5316100" y="814191"/>
            <a:ext cx="2808000" cy="54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Week 3+</a:t>
            </a:r>
            <a:endParaRPr>
              <a:solidFill>
                <a:schemeClr val="accent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13" name="Google Shape;513;p43"/>
          <p:cNvSpPr txBox="1">
            <a:spLocks noGrp="1"/>
          </p:cNvSpPr>
          <p:nvPr>
            <p:ph type="subTitle" idx="4294967295"/>
          </p:nvPr>
        </p:nvSpPr>
        <p:spPr>
          <a:xfrm>
            <a:off x="5345800" y="1354800"/>
            <a:ext cx="2294700" cy="54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HPC, MPI, Benchmarking</a:t>
            </a:r>
            <a:endParaRPr/>
          </a:p>
        </p:txBody>
      </p:sp>
      <p:sp>
        <p:nvSpPr>
          <p:cNvPr id="514" name="Google Shape;514;p43"/>
          <p:cNvSpPr txBox="1">
            <a:spLocks noGrp="1"/>
          </p:cNvSpPr>
          <p:nvPr>
            <p:ph type="title" idx="4294967295"/>
          </p:nvPr>
        </p:nvSpPr>
        <p:spPr>
          <a:xfrm>
            <a:off x="233850" y="228600"/>
            <a:ext cx="2808000" cy="6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rbanist Medium"/>
                <a:ea typeface="Urbanist Medium"/>
                <a:cs typeface="Urbanist Medium"/>
                <a:sym typeface="Urbanist Medium"/>
              </a:rPr>
              <a:t>Flow Diagrams</a:t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515" name="Google Shape;515;p43" title="DREU Flowchart 1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1850" y="102237"/>
            <a:ext cx="1216000" cy="493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43" title="DREU Flowchart 2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0025" y="51100"/>
            <a:ext cx="2258405" cy="50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252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Folder</a:t>
            </a:r>
            <a:endParaRPr/>
          </a:p>
        </p:txBody>
      </p:sp>
      <p:sp>
        <p:nvSpPr>
          <p:cNvPr id="522" name="Google Shape;522;p44"/>
          <p:cNvSpPr txBox="1">
            <a:spLocks noGrp="1"/>
          </p:cNvSpPr>
          <p:nvPr>
            <p:ph type="body" idx="2"/>
          </p:nvPr>
        </p:nvSpPr>
        <p:spPr>
          <a:xfrm>
            <a:off x="311700" y="1017725"/>
            <a:ext cx="3357900" cy="3894600"/>
          </a:xfrm>
          <a:prstGeom prst="rect">
            <a:avLst/>
          </a:prstGeom>
        </p:spPr>
        <p:txBody>
          <a:bodyPr spcFirstLastPara="1" wrap="square" lIns="0" tIns="91425" rIns="91425" bIns="0" anchor="t" anchorCtr="0">
            <a:noAutofit/>
          </a:bodyPr>
          <a:lstStyle/>
          <a:p>
            <a:pPr marL="228600" lvl="0" indent="-2095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main.py =  primary executor/entry-point</a:t>
            </a:r>
            <a:endParaRPr sz="1200"/>
          </a:p>
          <a:p>
            <a:pPr marL="228600" lvl="0" indent="-2095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config.py = configurable settings</a:t>
            </a:r>
            <a:endParaRPr sz="1200"/>
          </a:p>
          <a:p>
            <a:pPr marL="228600" lvl="0" indent="-2095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datasets/ = load/preprocess dataset(s)</a:t>
            </a:r>
            <a:endParaRPr sz="1200"/>
          </a:p>
          <a:p>
            <a:pPr marL="228600" lvl="0" indent="-2095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feature_maps/ = build parameterized quantum feature maps</a:t>
            </a:r>
            <a:endParaRPr sz="1200"/>
          </a:p>
          <a:p>
            <a:pPr marL="228600" lvl="0" indent="-2095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circuits/ = construct circuits</a:t>
            </a:r>
            <a:endParaRPr sz="1200"/>
          </a:p>
          <a:p>
            <a:pPr marL="228600" lvl="0" indent="-2095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simulation/ = run circuits with Qiskit Aer</a:t>
            </a:r>
            <a:endParaRPr sz="1200"/>
          </a:p>
          <a:p>
            <a:pPr marL="228600" lvl="0" indent="-2095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benchmark/ = measure execution time and performance</a:t>
            </a:r>
            <a:endParaRPr sz="1200"/>
          </a:p>
          <a:p>
            <a:pPr marL="228600" lvl="0" indent="-2095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mpi/ = future distributed execution with MPI</a:t>
            </a:r>
            <a:endParaRPr sz="1200"/>
          </a:p>
          <a:p>
            <a:pPr marL="228600" lvl="0" indent="-2095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backends/ = CPU and future GPU/cuQuantum support</a:t>
            </a:r>
            <a:endParaRPr sz="1200"/>
          </a:p>
          <a:p>
            <a:pPr marL="228600" lvl="0" indent="-2095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plots/ = save generated figures</a:t>
            </a:r>
            <a:endParaRPr sz="1200"/>
          </a:p>
        </p:txBody>
      </p:sp>
      <p:pic>
        <p:nvPicPr>
          <p:cNvPr id="523" name="Google Shape;523;p44" title="DREU Flowchart 3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5126" y="0"/>
            <a:ext cx="16228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6300" y="-1348"/>
            <a:ext cx="1279237" cy="5146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0451" y="152400"/>
            <a:ext cx="136325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ZZFeatureMap Circuit</a:t>
            </a:r>
            <a:endParaRPr/>
          </a:p>
        </p:txBody>
      </p:sp>
      <p:sp>
        <p:nvSpPr>
          <p:cNvPr id="531" name="Google Shape;531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9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/>
              <a:t>Features / Qubits (q) - each numerical feature is mapped to one qubit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/>
              <a:t>Hadamard Gate (H) - places qubits in superposition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/>
              <a:t>Phase Gate (P) - encodes classical feature values into quantum phases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/>
              <a:t>CZ Gate (+) - entanglement; creates correlations between features</a:t>
            </a:r>
            <a:endParaRPr/>
          </a:p>
        </p:txBody>
      </p:sp>
      <p:pic>
        <p:nvPicPr>
          <p:cNvPr id="532" name="Google Shape;532;p45" title="manual_q5_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82163"/>
            <a:ext cx="8839204" cy="2123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6"/>
          <p:cNvSpPr/>
          <p:nvPr/>
        </p:nvSpPr>
        <p:spPr>
          <a:xfrm>
            <a:off x="3343984" y="730588"/>
            <a:ext cx="2460900" cy="1790700"/>
          </a:xfrm>
          <a:prstGeom prst="roundRect">
            <a:avLst>
              <a:gd name="adj" fmla="val 1185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79375" tIns="79375" rIns="79375" bIns="79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15" u="sng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8" name="Google Shape;538;p46"/>
          <p:cNvSpPr/>
          <p:nvPr/>
        </p:nvSpPr>
        <p:spPr>
          <a:xfrm flipH="1">
            <a:off x="4916992" y="929031"/>
            <a:ext cx="781200" cy="3138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79375" tIns="79375" rIns="79375" bIns="79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5"/>
              <a:buNone/>
            </a:pPr>
            <a:endParaRPr sz="868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9" name="Google Shape;539;p46"/>
          <p:cNvSpPr/>
          <p:nvPr/>
        </p:nvSpPr>
        <p:spPr>
          <a:xfrm>
            <a:off x="803813" y="730588"/>
            <a:ext cx="2460900" cy="1790700"/>
          </a:xfrm>
          <a:prstGeom prst="roundRect">
            <a:avLst>
              <a:gd name="adj" fmla="val 1230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79375" tIns="79375" rIns="79375" bIns="79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15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0" name="Google Shape;540;p46"/>
          <p:cNvSpPr/>
          <p:nvPr/>
        </p:nvSpPr>
        <p:spPr>
          <a:xfrm flipH="1">
            <a:off x="2376820" y="929031"/>
            <a:ext cx="781200" cy="3138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79375" tIns="79375" rIns="79375" bIns="79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5"/>
              <a:buNone/>
            </a:pPr>
            <a:endParaRPr sz="868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1" name="Google Shape;541;p46"/>
          <p:cNvSpPr/>
          <p:nvPr/>
        </p:nvSpPr>
        <p:spPr>
          <a:xfrm>
            <a:off x="3343984" y="2606715"/>
            <a:ext cx="2460900" cy="1790700"/>
          </a:xfrm>
          <a:prstGeom prst="roundRect">
            <a:avLst>
              <a:gd name="adj" fmla="val 1160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79375" tIns="79375" rIns="79375" bIns="79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15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2" name="Google Shape;542;p46"/>
          <p:cNvSpPr/>
          <p:nvPr/>
        </p:nvSpPr>
        <p:spPr>
          <a:xfrm flipH="1">
            <a:off x="4916992" y="2808126"/>
            <a:ext cx="781200" cy="3138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79375" tIns="79375" rIns="79375" bIns="79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5"/>
              <a:buNone/>
            </a:pPr>
            <a:endParaRPr sz="868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3" name="Google Shape;543;p46"/>
          <p:cNvSpPr/>
          <p:nvPr/>
        </p:nvSpPr>
        <p:spPr>
          <a:xfrm>
            <a:off x="803813" y="2606715"/>
            <a:ext cx="2460900" cy="1790700"/>
          </a:xfrm>
          <a:prstGeom prst="roundRect">
            <a:avLst>
              <a:gd name="adj" fmla="val 1087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79375" tIns="79375" rIns="79375" bIns="79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15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4" name="Google Shape;544;p46"/>
          <p:cNvSpPr/>
          <p:nvPr/>
        </p:nvSpPr>
        <p:spPr>
          <a:xfrm flipH="1">
            <a:off x="2376820" y="2808126"/>
            <a:ext cx="781200" cy="3138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79375" tIns="79375" rIns="79375" bIns="79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5"/>
              <a:buNone/>
            </a:pPr>
            <a:endParaRPr sz="868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5" name="Google Shape;545;p46"/>
          <p:cNvSpPr/>
          <p:nvPr/>
        </p:nvSpPr>
        <p:spPr>
          <a:xfrm flipH="1">
            <a:off x="4916992" y="929031"/>
            <a:ext cx="781200" cy="3138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79375" tIns="79375" rIns="79375" bIns="79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5"/>
              <a:buFont typeface="Arial"/>
              <a:buNone/>
            </a:pPr>
            <a:r>
              <a:rPr lang="en" sz="868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USED</a:t>
            </a:r>
            <a:endParaRPr sz="868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6" name="Google Shape;546;p46"/>
          <p:cNvSpPr/>
          <p:nvPr/>
        </p:nvSpPr>
        <p:spPr>
          <a:xfrm flipH="1">
            <a:off x="2376820" y="929031"/>
            <a:ext cx="781200" cy="3138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79375" tIns="79375" rIns="79375" bIns="79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5"/>
              <a:buFont typeface="Arial"/>
              <a:buNone/>
            </a:pPr>
            <a:r>
              <a:rPr lang="en" sz="868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USED</a:t>
            </a:r>
            <a:endParaRPr sz="868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7" name="Google Shape;547;p46"/>
          <p:cNvSpPr/>
          <p:nvPr/>
        </p:nvSpPr>
        <p:spPr>
          <a:xfrm flipH="1">
            <a:off x="4916992" y="2808126"/>
            <a:ext cx="781200" cy="3138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79375" tIns="79375" rIns="79375" bIns="79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5"/>
              <a:buFont typeface="Arial"/>
              <a:buNone/>
            </a:pPr>
            <a:r>
              <a:rPr lang="en" sz="868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RELATED</a:t>
            </a:r>
            <a:endParaRPr sz="868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8" name="Google Shape;548;p46"/>
          <p:cNvSpPr/>
          <p:nvPr/>
        </p:nvSpPr>
        <p:spPr>
          <a:xfrm flipH="1">
            <a:off x="2376820" y="2808126"/>
            <a:ext cx="781200" cy="3138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79375" tIns="79375" rIns="79375" bIns="79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5"/>
              <a:buFont typeface="Arial"/>
              <a:buNone/>
            </a:pPr>
            <a:r>
              <a:rPr lang="en" sz="868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RELATED</a:t>
            </a:r>
            <a:endParaRPr sz="868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9" name="Google Shape;549;p46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Urbanist Medium"/>
                <a:ea typeface="Urbanist Medium"/>
                <a:cs typeface="Urbanist Medium"/>
                <a:sym typeface="Urbanist Medium"/>
              </a:rPr>
              <a:t>Library Comparisons</a:t>
            </a:r>
            <a:endParaRPr sz="1800"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50" name="Google Shape;550;p46"/>
          <p:cNvSpPr txBox="1">
            <a:spLocks noGrp="1"/>
          </p:cNvSpPr>
          <p:nvPr>
            <p:ph type="subTitle" idx="1"/>
          </p:nvPr>
        </p:nvSpPr>
        <p:spPr>
          <a:xfrm>
            <a:off x="322200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DREU</a:t>
            </a:r>
            <a:endParaRPr/>
          </a:p>
        </p:txBody>
      </p:sp>
      <p:sp>
        <p:nvSpPr>
          <p:cNvPr id="551" name="Google Shape;551;p46"/>
          <p:cNvSpPr txBox="1">
            <a:spLocks noGrp="1"/>
          </p:cNvSpPr>
          <p:nvPr>
            <p:ph type="subTitle" idx="2"/>
          </p:nvPr>
        </p:nvSpPr>
        <p:spPr>
          <a:xfrm>
            <a:off x="47334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</a:t>
            </a:r>
            <a:endParaRPr/>
          </a:p>
        </p:txBody>
      </p:sp>
      <p:sp>
        <p:nvSpPr>
          <p:cNvPr id="552" name="Google Shape;552;p46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553" name="Google Shape;553;p46"/>
          <p:cNvSpPr txBox="1">
            <a:spLocks noGrp="1"/>
          </p:cNvSpPr>
          <p:nvPr>
            <p:ph type="title" idx="4"/>
          </p:nvPr>
        </p:nvSpPr>
        <p:spPr>
          <a:xfrm>
            <a:off x="998805" y="958458"/>
            <a:ext cx="1268400" cy="254400"/>
          </a:xfrm>
          <a:prstGeom prst="rect">
            <a:avLst/>
          </a:prstGeom>
        </p:spPr>
        <p:txBody>
          <a:bodyPr spcFirstLastPara="1" wrap="square" lIns="79375" tIns="79375" rIns="79375" bIns="79375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63">
                <a:solidFill>
                  <a:schemeClr val="accent5"/>
                </a:solidFill>
              </a:rPr>
              <a:t>Qiskit</a:t>
            </a:r>
            <a:endParaRPr sz="1563">
              <a:solidFill>
                <a:schemeClr val="accent5"/>
              </a:solidFill>
            </a:endParaRPr>
          </a:p>
        </p:txBody>
      </p:sp>
      <p:sp>
        <p:nvSpPr>
          <p:cNvPr id="554" name="Google Shape;554;p46"/>
          <p:cNvSpPr txBox="1">
            <a:spLocks noGrp="1"/>
          </p:cNvSpPr>
          <p:nvPr>
            <p:ph type="subTitle" idx="6"/>
          </p:nvPr>
        </p:nvSpPr>
        <p:spPr>
          <a:xfrm>
            <a:off x="998803" y="1462792"/>
            <a:ext cx="2122200" cy="710100"/>
          </a:xfrm>
          <a:prstGeom prst="rect">
            <a:avLst/>
          </a:prstGeom>
        </p:spPr>
        <p:txBody>
          <a:bodyPr spcFirstLastPara="1" wrap="square" lIns="79375" tIns="79375" rIns="79375" bIns="79375" anchor="t" anchorCtr="0">
            <a:noAutofit/>
          </a:bodyPr>
          <a:lstStyle/>
          <a:p>
            <a:pPr marL="457200" lvl="0" indent="-2837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68"/>
              <a:buFont typeface="Urbanist"/>
              <a:buChar char="●"/>
            </a:pPr>
            <a:r>
              <a:rPr lang="en" sz="868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Circuit construction,  simulation, and flexible quantum algorithm development</a:t>
            </a:r>
            <a:endParaRPr sz="868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2837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68"/>
              <a:buFont typeface="Urbanist"/>
              <a:buChar char="●"/>
            </a:pPr>
            <a:r>
              <a:rPr lang="en" sz="868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Primary framework for building quantum circuits</a:t>
            </a:r>
            <a:endParaRPr sz="868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68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5" name="Google Shape;555;p46"/>
          <p:cNvSpPr txBox="1">
            <a:spLocks noGrp="1"/>
          </p:cNvSpPr>
          <p:nvPr>
            <p:ph type="title" idx="7"/>
          </p:nvPr>
        </p:nvSpPr>
        <p:spPr>
          <a:xfrm>
            <a:off x="3550013" y="958458"/>
            <a:ext cx="1268400" cy="254400"/>
          </a:xfrm>
          <a:prstGeom prst="rect">
            <a:avLst/>
          </a:prstGeom>
        </p:spPr>
        <p:txBody>
          <a:bodyPr spcFirstLastPara="1" wrap="square" lIns="79375" tIns="79375" rIns="79375" bIns="79375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63">
                <a:solidFill>
                  <a:schemeClr val="accent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Qiskit Aer</a:t>
            </a:r>
            <a:endParaRPr sz="1563">
              <a:solidFill>
                <a:schemeClr val="accent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56" name="Google Shape;556;p46"/>
          <p:cNvSpPr txBox="1">
            <a:spLocks noGrp="1"/>
          </p:cNvSpPr>
          <p:nvPr>
            <p:ph type="subTitle" idx="9"/>
          </p:nvPr>
        </p:nvSpPr>
        <p:spPr>
          <a:xfrm>
            <a:off x="3550011" y="1462792"/>
            <a:ext cx="2122200" cy="710100"/>
          </a:xfrm>
          <a:prstGeom prst="rect">
            <a:avLst/>
          </a:prstGeom>
        </p:spPr>
        <p:txBody>
          <a:bodyPr spcFirstLastPara="1" wrap="square" lIns="79375" tIns="79375" rIns="79375" bIns="79375" anchor="t" anchorCtr="0">
            <a:noAutofit/>
          </a:bodyPr>
          <a:lstStyle/>
          <a:p>
            <a:pPr marL="457200" lvl="0" indent="-2837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68"/>
              <a:buFont typeface="Urbanist"/>
              <a:buChar char="●"/>
            </a:pPr>
            <a:r>
              <a:rPr lang="en" sz="868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Fast, high-performance  simulator</a:t>
            </a:r>
            <a:endParaRPr sz="868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2837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68"/>
              <a:buFont typeface="Urbanist"/>
              <a:buChar char="●"/>
            </a:pPr>
            <a:r>
              <a:rPr lang="en" sz="868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Executes and benchmarks circuits without physical hardware</a:t>
            </a:r>
            <a:endParaRPr sz="868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7" name="Google Shape;557;p46"/>
          <p:cNvSpPr txBox="1">
            <a:spLocks noGrp="1"/>
          </p:cNvSpPr>
          <p:nvPr>
            <p:ph type="title" idx="13"/>
          </p:nvPr>
        </p:nvSpPr>
        <p:spPr>
          <a:xfrm>
            <a:off x="3550013" y="2837536"/>
            <a:ext cx="1268400" cy="254400"/>
          </a:xfrm>
          <a:prstGeom prst="rect">
            <a:avLst/>
          </a:prstGeom>
        </p:spPr>
        <p:txBody>
          <a:bodyPr spcFirstLastPara="1" wrap="square" lIns="79375" tIns="79375" rIns="79375" bIns="79375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63">
                <a:latin typeface="Urbanist Medium"/>
                <a:ea typeface="Urbanist Medium"/>
                <a:cs typeface="Urbanist Medium"/>
                <a:sym typeface="Urbanist Medium"/>
              </a:rPr>
              <a:t>DisCoPy</a:t>
            </a:r>
            <a:endParaRPr sz="1563"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58" name="Google Shape;558;p46"/>
          <p:cNvSpPr txBox="1">
            <a:spLocks noGrp="1"/>
          </p:cNvSpPr>
          <p:nvPr>
            <p:ph type="subTitle" idx="14"/>
          </p:nvPr>
        </p:nvSpPr>
        <p:spPr>
          <a:xfrm>
            <a:off x="3550000" y="3011575"/>
            <a:ext cx="1412700" cy="177600"/>
          </a:xfrm>
          <a:prstGeom prst="rect">
            <a:avLst/>
          </a:prstGeom>
        </p:spPr>
        <p:txBody>
          <a:bodyPr spcFirstLastPara="1" wrap="square" lIns="79375" tIns="79375" rIns="79375" bIns="7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5"/>
              <a:buFont typeface="Arial"/>
              <a:buNone/>
            </a:pPr>
            <a:r>
              <a:rPr lang="en" sz="1042"/>
              <a:t>Open-source (Oxford)</a:t>
            </a:r>
            <a:endParaRPr sz="1042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42"/>
          </a:p>
        </p:txBody>
      </p:sp>
      <p:sp>
        <p:nvSpPr>
          <p:cNvPr id="559" name="Google Shape;559;p46"/>
          <p:cNvSpPr txBox="1">
            <a:spLocks noGrp="1"/>
          </p:cNvSpPr>
          <p:nvPr>
            <p:ph type="subTitle" idx="15"/>
          </p:nvPr>
        </p:nvSpPr>
        <p:spPr>
          <a:xfrm>
            <a:off x="3550000" y="3341876"/>
            <a:ext cx="2122200" cy="892800"/>
          </a:xfrm>
          <a:prstGeom prst="rect">
            <a:avLst/>
          </a:prstGeom>
        </p:spPr>
        <p:txBody>
          <a:bodyPr spcFirstLastPara="1" wrap="square" lIns="79375" tIns="79375" rIns="79375" bIns="79375" anchor="t" anchorCtr="0">
            <a:noAutofit/>
          </a:bodyPr>
          <a:lstStyle/>
          <a:p>
            <a:pPr marL="457200" lvl="0" indent="-2837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68"/>
              <a:buFont typeface="Urbanist"/>
              <a:buChar char="●"/>
            </a:pPr>
            <a:r>
              <a:rPr lang="en" sz="868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Diagrammatic quantum circuit framework</a:t>
            </a:r>
            <a:endParaRPr sz="868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2837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68"/>
              <a:buFont typeface="Urbanist"/>
              <a:buChar char="●"/>
            </a:pPr>
            <a:r>
              <a:rPr lang="en" sz="868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Useful for representing quantum circuits graphically</a:t>
            </a:r>
            <a:endParaRPr sz="868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2837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68"/>
              <a:buFont typeface="Urbanist"/>
              <a:buChar char="●"/>
            </a:pPr>
            <a:r>
              <a:rPr lang="en" sz="868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Python compatibility</a:t>
            </a:r>
            <a:endParaRPr sz="868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68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0" name="Google Shape;560;p46"/>
          <p:cNvSpPr txBox="1">
            <a:spLocks noGrp="1"/>
          </p:cNvSpPr>
          <p:nvPr>
            <p:ph type="title" idx="16"/>
          </p:nvPr>
        </p:nvSpPr>
        <p:spPr>
          <a:xfrm>
            <a:off x="998805" y="2837536"/>
            <a:ext cx="1268400" cy="254400"/>
          </a:xfrm>
          <a:prstGeom prst="rect">
            <a:avLst/>
          </a:prstGeom>
        </p:spPr>
        <p:txBody>
          <a:bodyPr spcFirstLastPara="1" wrap="square" lIns="79375" tIns="79375" rIns="79375" bIns="79375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63">
                <a:latin typeface="Urbanist Medium"/>
                <a:ea typeface="Urbanist Medium"/>
                <a:cs typeface="Urbanist Medium"/>
                <a:sym typeface="Urbanist Medium"/>
              </a:rPr>
              <a:t>lambeq</a:t>
            </a:r>
            <a:endParaRPr sz="1563"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61" name="Google Shape;561;p46"/>
          <p:cNvSpPr txBox="1">
            <a:spLocks noGrp="1"/>
          </p:cNvSpPr>
          <p:nvPr>
            <p:ph type="subTitle" idx="17"/>
          </p:nvPr>
        </p:nvSpPr>
        <p:spPr>
          <a:xfrm>
            <a:off x="998805" y="3011565"/>
            <a:ext cx="1345200" cy="177600"/>
          </a:xfrm>
          <a:prstGeom prst="rect">
            <a:avLst/>
          </a:prstGeom>
        </p:spPr>
        <p:txBody>
          <a:bodyPr spcFirstLastPara="1" wrap="square" lIns="79375" tIns="79375" rIns="79375" bIns="7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5"/>
              <a:buFont typeface="Arial"/>
              <a:buNone/>
            </a:pPr>
            <a:r>
              <a:rPr lang="en" sz="1042"/>
              <a:t>Quantinuum</a:t>
            </a:r>
            <a:endParaRPr sz="1042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42"/>
          </a:p>
        </p:txBody>
      </p:sp>
      <p:sp>
        <p:nvSpPr>
          <p:cNvPr id="562" name="Google Shape;562;p46"/>
          <p:cNvSpPr txBox="1">
            <a:spLocks noGrp="1"/>
          </p:cNvSpPr>
          <p:nvPr>
            <p:ph type="subTitle" idx="18"/>
          </p:nvPr>
        </p:nvSpPr>
        <p:spPr>
          <a:xfrm>
            <a:off x="998800" y="3341877"/>
            <a:ext cx="2122200" cy="1007400"/>
          </a:xfrm>
          <a:prstGeom prst="rect">
            <a:avLst/>
          </a:prstGeom>
        </p:spPr>
        <p:txBody>
          <a:bodyPr spcFirstLastPara="1" wrap="square" lIns="79375" tIns="79375" rIns="79375" bIns="79375" anchor="t" anchorCtr="0">
            <a:noAutofit/>
          </a:bodyPr>
          <a:lstStyle/>
          <a:p>
            <a:pPr marL="457200" lvl="0" indent="-2837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68"/>
              <a:buFont typeface="Urbanist"/>
              <a:buChar char="●"/>
            </a:pPr>
            <a:r>
              <a:rPr lang="en" sz="868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Quantum NLP</a:t>
            </a:r>
            <a:endParaRPr sz="868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2837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68"/>
              <a:buFont typeface="Urbanist"/>
              <a:buChar char="●"/>
            </a:pPr>
            <a:r>
              <a:rPr lang="en" sz="868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Targets language models instead of numerical feature mapping</a:t>
            </a:r>
            <a:endParaRPr sz="868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2837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68"/>
              <a:buFont typeface="Urbanist"/>
              <a:buChar char="●"/>
            </a:pPr>
            <a:r>
              <a:rPr lang="en" sz="868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Useful when working with strings rather than numbers</a:t>
            </a:r>
            <a:endParaRPr sz="868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68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3" name="Google Shape;563;p46"/>
          <p:cNvSpPr txBox="1">
            <a:spLocks noGrp="1"/>
          </p:cNvSpPr>
          <p:nvPr>
            <p:ph type="subTitle" idx="8"/>
          </p:nvPr>
        </p:nvSpPr>
        <p:spPr>
          <a:xfrm>
            <a:off x="3550013" y="1132488"/>
            <a:ext cx="1345200" cy="177600"/>
          </a:xfrm>
          <a:prstGeom prst="rect">
            <a:avLst/>
          </a:prstGeom>
        </p:spPr>
        <p:txBody>
          <a:bodyPr spcFirstLastPara="1" wrap="square" lIns="79375" tIns="79375" rIns="79375" bIns="7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42"/>
              <a:t>IBM</a:t>
            </a:r>
            <a:endParaRPr sz="1042"/>
          </a:p>
        </p:txBody>
      </p:sp>
      <p:sp>
        <p:nvSpPr>
          <p:cNvPr id="564" name="Google Shape;564;p46"/>
          <p:cNvSpPr txBox="1">
            <a:spLocks noGrp="1"/>
          </p:cNvSpPr>
          <p:nvPr>
            <p:ph type="subTitle" idx="5"/>
          </p:nvPr>
        </p:nvSpPr>
        <p:spPr>
          <a:xfrm>
            <a:off x="998805" y="1132488"/>
            <a:ext cx="1345200" cy="177600"/>
          </a:xfrm>
          <a:prstGeom prst="rect">
            <a:avLst/>
          </a:prstGeom>
        </p:spPr>
        <p:txBody>
          <a:bodyPr spcFirstLastPara="1" wrap="square" lIns="79375" tIns="79375" rIns="79375" bIns="7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5"/>
              <a:buFont typeface="Arial"/>
              <a:buNone/>
            </a:pPr>
            <a:r>
              <a:rPr lang="en" sz="1042"/>
              <a:t>IBM</a:t>
            </a:r>
            <a:endParaRPr sz="1042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42"/>
          </a:p>
        </p:txBody>
      </p:sp>
      <p:sp>
        <p:nvSpPr>
          <p:cNvPr id="565" name="Google Shape;565;p46"/>
          <p:cNvSpPr/>
          <p:nvPr/>
        </p:nvSpPr>
        <p:spPr>
          <a:xfrm>
            <a:off x="5879284" y="735750"/>
            <a:ext cx="2460900" cy="1790700"/>
          </a:xfrm>
          <a:prstGeom prst="roundRect">
            <a:avLst>
              <a:gd name="adj" fmla="val 1185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79375" tIns="79375" rIns="79375" bIns="79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15" u="sng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6" name="Google Shape;566;p46"/>
          <p:cNvSpPr/>
          <p:nvPr/>
        </p:nvSpPr>
        <p:spPr>
          <a:xfrm flipH="1">
            <a:off x="7452292" y="934193"/>
            <a:ext cx="781200" cy="3138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79375" tIns="79375" rIns="79375" bIns="79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5"/>
              <a:buNone/>
            </a:pPr>
            <a:endParaRPr sz="868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7" name="Google Shape;567;p46"/>
          <p:cNvSpPr/>
          <p:nvPr/>
        </p:nvSpPr>
        <p:spPr>
          <a:xfrm>
            <a:off x="5879284" y="2611877"/>
            <a:ext cx="2460900" cy="1790700"/>
          </a:xfrm>
          <a:prstGeom prst="roundRect">
            <a:avLst>
              <a:gd name="adj" fmla="val 1160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79375" tIns="79375" rIns="79375" bIns="79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15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8" name="Google Shape;568;p46"/>
          <p:cNvSpPr/>
          <p:nvPr/>
        </p:nvSpPr>
        <p:spPr>
          <a:xfrm flipH="1">
            <a:off x="7452292" y="2813289"/>
            <a:ext cx="781200" cy="3138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79375" tIns="79375" rIns="79375" bIns="79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5"/>
              <a:buNone/>
            </a:pPr>
            <a:endParaRPr sz="868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9" name="Google Shape;569;p46"/>
          <p:cNvSpPr/>
          <p:nvPr/>
        </p:nvSpPr>
        <p:spPr>
          <a:xfrm flipH="1">
            <a:off x="7452292" y="934193"/>
            <a:ext cx="781200" cy="3138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79375" tIns="79375" rIns="79375" bIns="79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5"/>
              <a:buFont typeface="Arial"/>
              <a:buNone/>
            </a:pPr>
            <a:r>
              <a:rPr lang="en" sz="868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FUTURE?</a:t>
            </a:r>
            <a:endParaRPr sz="868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0" name="Google Shape;570;p46"/>
          <p:cNvSpPr/>
          <p:nvPr/>
        </p:nvSpPr>
        <p:spPr>
          <a:xfrm flipH="1">
            <a:off x="7452292" y="2813289"/>
            <a:ext cx="781200" cy="3138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79375" tIns="79375" rIns="79375" bIns="79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5"/>
              <a:buFont typeface="Arial"/>
              <a:buNone/>
            </a:pPr>
            <a:r>
              <a:rPr lang="en" sz="868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RELATED</a:t>
            </a:r>
            <a:endParaRPr sz="868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1" name="Google Shape;571;p46"/>
          <p:cNvSpPr txBox="1">
            <a:spLocks noGrp="1"/>
          </p:cNvSpPr>
          <p:nvPr>
            <p:ph type="title" idx="7"/>
          </p:nvPr>
        </p:nvSpPr>
        <p:spPr>
          <a:xfrm>
            <a:off x="6085313" y="963621"/>
            <a:ext cx="1268400" cy="254400"/>
          </a:xfrm>
          <a:prstGeom prst="rect">
            <a:avLst/>
          </a:prstGeom>
        </p:spPr>
        <p:txBody>
          <a:bodyPr spcFirstLastPara="1" wrap="square" lIns="79375" tIns="79375" rIns="79375" bIns="79375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63">
                <a:solidFill>
                  <a:schemeClr val="accent6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pytket</a:t>
            </a:r>
            <a:endParaRPr sz="1563">
              <a:solidFill>
                <a:schemeClr val="accent6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72" name="Google Shape;572;p46"/>
          <p:cNvSpPr txBox="1">
            <a:spLocks noGrp="1"/>
          </p:cNvSpPr>
          <p:nvPr>
            <p:ph type="subTitle" idx="9"/>
          </p:nvPr>
        </p:nvSpPr>
        <p:spPr>
          <a:xfrm>
            <a:off x="6085300" y="1467949"/>
            <a:ext cx="2122200" cy="892800"/>
          </a:xfrm>
          <a:prstGeom prst="rect">
            <a:avLst/>
          </a:prstGeom>
        </p:spPr>
        <p:txBody>
          <a:bodyPr spcFirstLastPara="1" wrap="square" lIns="79375" tIns="79375" rIns="79375" bIns="79375" anchor="t" anchorCtr="0">
            <a:noAutofit/>
          </a:bodyPr>
          <a:lstStyle/>
          <a:p>
            <a:pPr marL="457200" lvl="0" indent="-283723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68"/>
              <a:buFont typeface="Urbanist"/>
              <a:buChar char="●"/>
            </a:pPr>
            <a:r>
              <a:rPr lang="en" sz="868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Circuit optimization and backend compilation</a:t>
            </a:r>
            <a:endParaRPr sz="868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283723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68"/>
              <a:buFont typeface="Urbanist"/>
              <a:buChar char="●"/>
            </a:pPr>
            <a:r>
              <a:rPr lang="en" sz="868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Could be used to optimize circuits before execution on HPC systems</a:t>
            </a:r>
            <a:endParaRPr sz="868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283723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68"/>
              <a:buFont typeface="Urbanist"/>
              <a:buChar char="●"/>
            </a:pPr>
            <a:r>
              <a:rPr lang="en" sz="868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More advanced but more capabilities than Qiskit</a:t>
            </a:r>
            <a:endParaRPr sz="868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3" name="Google Shape;573;p46"/>
          <p:cNvSpPr txBox="1">
            <a:spLocks noGrp="1"/>
          </p:cNvSpPr>
          <p:nvPr>
            <p:ph type="title" idx="13"/>
          </p:nvPr>
        </p:nvSpPr>
        <p:spPr>
          <a:xfrm>
            <a:off x="6085313" y="2842698"/>
            <a:ext cx="1268400" cy="254400"/>
          </a:xfrm>
          <a:prstGeom prst="rect">
            <a:avLst/>
          </a:prstGeom>
        </p:spPr>
        <p:txBody>
          <a:bodyPr spcFirstLastPara="1" wrap="square" lIns="79375" tIns="79375" rIns="79375" bIns="79375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63">
                <a:latin typeface="Urbanist Medium"/>
                <a:ea typeface="Urbanist Medium"/>
                <a:cs typeface="Urbanist Medium"/>
                <a:sym typeface="Urbanist Medium"/>
              </a:rPr>
              <a:t>DisCoCat</a:t>
            </a:r>
            <a:endParaRPr sz="1563"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74" name="Google Shape;574;p46"/>
          <p:cNvSpPr txBox="1">
            <a:spLocks noGrp="1"/>
          </p:cNvSpPr>
          <p:nvPr>
            <p:ph type="subTitle" idx="14"/>
          </p:nvPr>
        </p:nvSpPr>
        <p:spPr>
          <a:xfrm>
            <a:off x="6085313" y="3016728"/>
            <a:ext cx="1345200" cy="177600"/>
          </a:xfrm>
          <a:prstGeom prst="rect">
            <a:avLst/>
          </a:prstGeom>
        </p:spPr>
        <p:txBody>
          <a:bodyPr spcFirstLastPara="1" wrap="square" lIns="79375" tIns="79375" rIns="79375" bIns="7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5"/>
              <a:buFont typeface="Arial"/>
              <a:buNone/>
            </a:pPr>
            <a:r>
              <a:rPr lang="en" sz="1042"/>
              <a:t>Oxford University</a:t>
            </a:r>
            <a:endParaRPr sz="1042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42"/>
          </a:p>
        </p:txBody>
      </p:sp>
      <p:sp>
        <p:nvSpPr>
          <p:cNvPr id="575" name="Google Shape;575;p46"/>
          <p:cNvSpPr txBox="1">
            <a:spLocks noGrp="1"/>
          </p:cNvSpPr>
          <p:nvPr>
            <p:ph type="subTitle" idx="15"/>
          </p:nvPr>
        </p:nvSpPr>
        <p:spPr>
          <a:xfrm>
            <a:off x="6085311" y="3347032"/>
            <a:ext cx="2122200" cy="710100"/>
          </a:xfrm>
          <a:prstGeom prst="rect">
            <a:avLst/>
          </a:prstGeom>
        </p:spPr>
        <p:txBody>
          <a:bodyPr spcFirstLastPara="1" wrap="square" lIns="79375" tIns="79375" rIns="79375" bIns="79375" anchor="t" anchorCtr="0">
            <a:noAutofit/>
          </a:bodyPr>
          <a:lstStyle/>
          <a:p>
            <a:pPr marL="457200" lvl="0" indent="-2837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68"/>
              <a:buFont typeface="Urbanist"/>
              <a:buChar char="●"/>
            </a:pPr>
            <a:r>
              <a:rPr lang="en" sz="868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Categorical framework for compositional linguistics</a:t>
            </a:r>
            <a:endParaRPr sz="868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2837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68"/>
              <a:buFont typeface="Urbanist"/>
              <a:buChar char="●"/>
            </a:pPr>
            <a:r>
              <a:rPr lang="en" sz="868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Foundation for many QNLP approaches, such as lambeq</a:t>
            </a:r>
            <a:endParaRPr sz="868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68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6" name="Google Shape;576;p46"/>
          <p:cNvSpPr txBox="1">
            <a:spLocks noGrp="1"/>
          </p:cNvSpPr>
          <p:nvPr>
            <p:ph type="subTitle" idx="8"/>
          </p:nvPr>
        </p:nvSpPr>
        <p:spPr>
          <a:xfrm>
            <a:off x="6085313" y="1137650"/>
            <a:ext cx="1345200" cy="177600"/>
          </a:xfrm>
          <a:prstGeom prst="rect">
            <a:avLst/>
          </a:prstGeom>
        </p:spPr>
        <p:txBody>
          <a:bodyPr spcFirstLastPara="1" wrap="square" lIns="79375" tIns="79375" rIns="79375" bIns="7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42"/>
              <a:t>Quantinuum</a:t>
            </a:r>
            <a:endParaRPr sz="1042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</a:t>
            </a:r>
            <a:endParaRPr/>
          </a:p>
        </p:txBody>
      </p:sp>
      <p:sp>
        <p:nvSpPr>
          <p:cNvPr id="582" name="Google Shape;582;p4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583" name="Google Shape;583;p4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DREU</a:t>
            </a:r>
            <a:endParaRPr/>
          </a:p>
        </p:txBody>
      </p:sp>
      <p:sp>
        <p:nvSpPr>
          <p:cNvPr id="584" name="Google Shape;584;p47"/>
          <p:cNvSpPr txBox="1">
            <a:spLocks noGrp="1"/>
          </p:cNvSpPr>
          <p:nvPr>
            <p:ph type="title" idx="19"/>
          </p:nvPr>
        </p:nvSpPr>
        <p:spPr>
          <a:xfrm>
            <a:off x="4892200" y="394198"/>
            <a:ext cx="36558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AerSimulator</a:t>
            </a:r>
            <a:endParaRPr/>
          </a:p>
        </p:txBody>
      </p:sp>
      <p:sp>
        <p:nvSpPr>
          <p:cNvPr id="585" name="Google Shape;585;p47"/>
          <p:cNvSpPr txBox="1">
            <a:spLocks noGrp="1"/>
          </p:cNvSpPr>
          <p:nvPr>
            <p:ph type="subTitle" idx="4"/>
          </p:nvPr>
        </p:nvSpPr>
        <p:spPr>
          <a:xfrm>
            <a:off x="6080700" y="931500"/>
            <a:ext cx="2743500" cy="231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</a:pPr>
            <a:r>
              <a:rPr lang="en" sz="1400"/>
              <a:t>Simulates quantum circuit execution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</a:pPr>
            <a:r>
              <a:rPr lang="en" sz="1400"/>
              <a:t>Displays statevectors and various measurement results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</a:pPr>
            <a:r>
              <a:rPr lang="en" sz="1400"/>
              <a:t>Collects and displays circuit statistics and runtime information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</a:pPr>
            <a:r>
              <a:rPr lang="en" sz="1400"/>
              <a:t>Reproducible and expandable environment for testing and benchmarking 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</p:txBody>
      </p:sp>
      <p:pic>
        <p:nvPicPr>
          <p:cNvPr id="586" name="Google Shape;58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8600"/>
            <a:ext cx="2182374" cy="445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2375" y="228600"/>
            <a:ext cx="1834111" cy="445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6475" y="1566807"/>
            <a:ext cx="1886900" cy="3116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48" descr="A luminous galaxy in space. "/>
          <p:cNvPicPr preferRelativeResize="0"/>
          <p:nvPr/>
        </p:nvPicPr>
        <p:blipFill rotWithShape="1">
          <a:blip r:embed="rId3">
            <a:alphaModFix amt="20000"/>
          </a:blip>
          <a:srcRect t="6840" b="1961"/>
          <a:stretch/>
        </p:blipFill>
        <p:spPr>
          <a:xfrm>
            <a:off x="0" y="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8"/>
          <p:cNvSpPr/>
          <p:nvPr/>
        </p:nvSpPr>
        <p:spPr>
          <a:xfrm>
            <a:off x="234475" y="4113613"/>
            <a:ext cx="1458000" cy="3387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595" name="Google Shape;595;p48"/>
          <p:cNvSpPr/>
          <p:nvPr/>
        </p:nvSpPr>
        <p:spPr>
          <a:xfrm>
            <a:off x="2034375" y="4113613"/>
            <a:ext cx="14580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596" name="Google Shape;596;p48"/>
          <p:cNvSpPr/>
          <p:nvPr/>
        </p:nvSpPr>
        <p:spPr>
          <a:xfrm>
            <a:off x="3834275" y="4113613"/>
            <a:ext cx="14580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597" name="Google Shape;597;p48"/>
          <p:cNvSpPr/>
          <p:nvPr/>
        </p:nvSpPr>
        <p:spPr>
          <a:xfrm>
            <a:off x="5634175" y="4113613"/>
            <a:ext cx="14580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598" name="Google Shape;598;p48"/>
          <p:cNvSpPr/>
          <p:nvPr/>
        </p:nvSpPr>
        <p:spPr>
          <a:xfrm>
            <a:off x="7434075" y="4113613"/>
            <a:ext cx="14580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cxnSp>
        <p:nvCxnSpPr>
          <p:cNvPr id="599" name="Google Shape;599;p48"/>
          <p:cNvCxnSpPr/>
          <p:nvPr/>
        </p:nvCxnSpPr>
        <p:spPr>
          <a:xfrm>
            <a:off x="234475" y="2205188"/>
            <a:ext cx="76362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600" name="Google Shape;600;p48"/>
          <p:cNvSpPr/>
          <p:nvPr/>
        </p:nvSpPr>
        <p:spPr>
          <a:xfrm>
            <a:off x="228600" y="1895390"/>
            <a:ext cx="602700" cy="6027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457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601" name="Google Shape;601;p48"/>
          <p:cNvSpPr/>
          <p:nvPr/>
        </p:nvSpPr>
        <p:spPr>
          <a:xfrm>
            <a:off x="2034363" y="1895390"/>
            <a:ext cx="602700" cy="602700"/>
          </a:xfrm>
          <a:prstGeom prst="roundRect">
            <a:avLst>
              <a:gd name="adj" fmla="val 28849"/>
            </a:avLst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457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602" name="Google Shape;602;p48"/>
          <p:cNvSpPr/>
          <p:nvPr/>
        </p:nvSpPr>
        <p:spPr>
          <a:xfrm>
            <a:off x="3829950" y="1895390"/>
            <a:ext cx="602700" cy="602700"/>
          </a:xfrm>
          <a:prstGeom prst="roundRect">
            <a:avLst>
              <a:gd name="adj" fmla="val 28849"/>
            </a:avLst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457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603" name="Google Shape;603;p48"/>
          <p:cNvSpPr/>
          <p:nvPr/>
        </p:nvSpPr>
        <p:spPr>
          <a:xfrm>
            <a:off x="5645375" y="1895390"/>
            <a:ext cx="602700" cy="602700"/>
          </a:xfrm>
          <a:prstGeom prst="roundRect">
            <a:avLst>
              <a:gd name="adj" fmla="val 28849"/>
            </a:avLst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457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604" name="Google Shape;604;p48"/>
          <p:cNvSpPr/>
          <p:nvPr/>
        </p:nvSpPr>
        <p:spPr>
          <a:xfrm>
            <a:off x="7460789" y="1895390"/>
            <a:ext cx="602700" cy="602700"/>
          </a:xfrm>
          <a:prstGeom prst="roundRect">
            <a:avLst>
              <a:gd name="adj" fmla="val 28849"/>
            </a:avLst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457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605" name="Google Shape;605;p4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 / Roadmap</a:t>
            </a:r>
            <a:endParaRPr/>
          </a:p>
        </p:txBody>
      </p:sp>
      <p:sp>
        <p:nvSpPr>
          <p:cNvPr id="606" name="Google Shape;606;p48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Weeks 3-5</a:t>
            </a:r>
            <a:endParaRPr/>
          </a:p>
        </p:txBody>
      </p:sp>
      <p:sp>
        <p:nvSpPr>
          <p:cNvPr id="607" name="Google Shape;607;p48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CDREU</a:t>
            </a:r>
            <a:endParaRPr/>
          </a:p>
        </p:txBody>
      </p:sp>
      <p:sp>
        <p:nvSpPr>
          <p:cNvPr id="608" name="Google Shape;608;p48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</a:t>
            </a:r>
            <a:endParaRPr/>
          </a:p>
        </p:txBody>
      </p:sp>
      <p:sp>
        <p:nvSpPr>
          <p:cNvPr id="609" name="Google Shape;609;p48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610" name="Google Shape;610;p48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Weeks 5-7</a:t>
            </a:r>
            <a:endParaRPr/>
          </a:p>
        </p:txBody>
      </p:sp>
      <p:sp>
        <p:nvSpPr>
          <p:cNvPr id="611" name="Google Shape;611;p48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Weeks 7-9</a:t>
            </a:r>
            <a:endParaRPr/>
          </a:p>
        </p:txBody>
      </p:sp>
      <p:sp>
        <p:nvSpPr>
          <p:cNvPr id="612" name="Google Shape;612;p48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Weeks 9-10</a:t>
            </a:r>
            <a:endParaRPr/>
          </a:p>
        </p:txBody>
      </p:sp>
      <p:sp>
        <p:nvSpPr>
          <p:cNvPr id="613" name="Google Shape;613;p48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Framework</a:t>
            </a:r>
            <a:endParaRPr/>
          </a:p>
        </p:txBody>
      </p:sp>
      <p:sp>
        <p:nvSpPr>
          <p:cNvPr id="614" name="Google Shape;614;p48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Noise &amp; Backend Evaluation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48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16" name="Google Shape;616;p48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17" name="Google Shape;617;p48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18" name="Google Shape;618;p48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19" name="Google Shape;619;p48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620" name="Google Shape;620;p48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Weeks 2-3</a:t>
            </a:r>
            <a:endParaRPr/>
          </a:p>
        </p:txBody>
      </p:sp>
      <p:sp>
        <p:nvSpPr>
          <p:cNvPr id="621" name="Google Shape;621;p48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MPI Parallelization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48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Scalability Analysis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48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Integration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48"/>
          <p:cNvSpPr txBox="1">
            <a:spLocks noGrp="1"/>
          </p:cNvSpPr>
          <p:nvPr>
            <p:ph type="body" idx="2"/>
          </p:nvPr>
        </p:nvSpPr>
        <p:spPr>
          <a:xfrm>
            <a:off x="246150" y="30568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/>
              <a:t>Extend the simulator to collect execution time, circuit statistics, and performance metrics for reproducible experiments. Initialize Github archive. </a:t>
            </a:r>
            <a:endParaRPr sz="900" dirty="0"/>
          </a:p>
        </p:txBody>
      </p:sp>
      <p:sp>
        <p:nvSpPr>
          <p:cNvPr id="625" name="Google Shape;625;p48"/>
          <p:cNvSpPr txBox="1">
            <a:spLocks noGrp="1"/>
          </p:cNvSpPr>
          <p:nvPr>
            <p:ph type="body" idx="1"/>
          </p:nvPr>
        </p:nvSpPr>
        <p:spPr>
          <a:xfrm>
            <a:off x="2015475" y="3075000"/>
            <a:ext cx="13776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Evaluate circuits under different Aer noise models and compare CPU execution with GPU/cuQuantum backends. </a:t>
            </a:r>
            <a:endParaRPr/>
          </a:p>
        </p:txBody>
      </p:sp>
      <p:sp>
        <p:nvSpPr>
          <p:cNvPr id="626" name="Google Shape;626;p48"/>
          <p:cNvSpPr txBox="1">
            <a:spLocks noGrp="1"/>
          </p:cNvSpPr>
          <p:nvPr>
            <p:ph type="body" idx="4"/>
          </p:nvPr>
        </p:nvSpPr>
        <p:spPr>
          <a:xfrm>
            <a:off x="3848250" y="303452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 quantum kernel simulations across multiple processors/cores to improve scalability for larger datasets. </a:t>
            </a:r>
            <a:endParaRPr/>
          </a:p>
        </p:txBody>
      </p:sp>
      <p:sp>
        <p:nvSpPr>
          <p:cNvPr id="627" name="Google Shape;627;p48"/>
          <p:cNvSpPr txBox="1">
            <a:spLocks noGrp="1"/>
          </p:cNvSpPr>
          <p:nvPr>
            <p:ph type="body" idx="6"/>
          </p:nvPr>
        </p:nvSpPr>
        <p:spPr>
          <a:xfrm>
            <a:off x="5649300" y="3034538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 strong and weak scaling, compare hardware performance, and analyze computational bottlenecks. </a:t>
            </a:r>
            <a:endParaRPr/>
          </a:p>
        </p:txBody>
      </p:sp>
      <p:sp>
        <p:nvSpPr>
          <p:cNvPr id="628" name="Google Shape;628;p48"/>
          <p:cNvSpPr txBox="1">
            <a:spLocks noGrp="1"/>
          </p:cNvSpPr>
          <p:nvPr>
            <p:ph type="body" idx="26"/>
          </p:nvPr>
        </p:nvSpPr>
        <p:spPr>
          <a:xfrm>
            <a:off x="7450350" y="303841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Finalize performance results, contribute figures and analysis to the final report/paper, and finalize the GitHub research archive.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9"/>
          <p:cNvSpPr txBox="1"/>
          <p:nvPr/>
        </p:nvSpPr>
        <p:spPr>
          <a:xfrm>
            <a:off x="4561300" y="1061825"/>
            <a:ext cx="4317600" cy="3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https://www.ibm.com/quantum/qiskit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https://qiskit.github.io/qiskit-aer/#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https://docs.quantinuum.com/tket/api-docs/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https://docs.quantinuum.com/lambeq/guide/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https://docs.discopy.org/en/main/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https://arxiv.org/pdf/1003.4394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4" name="Google Shape;634;p49"/>
          <p:cNvSpPr/>
          <p:nvPr/>
        </p:nvSpPr>
        <p:spPr>
          <a:xfrm>
            <a:off x="4343300" y="428450"/>
            <a:ext cx="1437300" cy="536700"/>
          </a:xfrm>
          <a:prstGeom prst="roundRect">
            <a:avLst>
              <a:gd name="adj" fmla="val 1230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5" name="Google Shape;635;p49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</a:t>
            </a:r>
            <a:endParaRPr/>
          </a:p>
        </p:txBody>
      </p:sp>
      <p:sp>
        <p:nvSpPr>
          <p:cNvPr id="636" name="Google Shape;636;p49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637" name="Google Shape;637;p49"/>
          <p:cNvSpPr txBox="1">
            <a:spLocks noGrp="1"/>
          </p:cNvSpPr>
          <p:nvPr>
            <p:ph type="title"/>
          </p:nvPr>
        </p:nvSpPr>
        <p:spPr>
          <a:xfrm>
            <a:off x="228600" y="290450"/>
            <a:ext cx="3655800" cy="81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Thank you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8" name="Google Shape;638;p49"/>
          <p:cNvSpPr/>
          <p:nvPr/>
        </p:nvSpPr>
        <p:spPr>
          <a:xfrm>
            <a:off x="228600" y="3299625"/>
            <a:ext cx="84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49"/>
          <p:cNvSpPr/>
          <p:nvPr/>
        </p:nvSpPr>
        <p:spPr>
          <a:xfrm>
            <a:off x="228600" y="2888225"/>
            <a:ext cx="2835000" cy="1564500"/>
          </a:xfrm>
          <a:prstGeom prst="roundRect">
            <a:avLst>
              <a:gd name="adj" fmla="val 1230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0" name="Google Shape;640;p49"/>
          <p:cNvSpPr txBox="1"/>
          <p:nvPr/>
        </p:nvSpPr>
        <p:spPr>
          <a:xfrm>
            <a:off x="457200" y="3096275"/>
            <a:ext cx="2599200" cy="11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7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Questions? </a:t>
            </a:r>
            <a:endParaRPr sz="1800">
              <a:solidFill>
                <a:schemeClr val="accent3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1" name="Google Shape;641;p49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DREU</a:t>
            </a:r>
            <a:endParaRPr/>
          </a:p>
        </p:txBody>
      </p:sp>
      <p:sp>
        <p:nvSpPr>
          <p:cNvPr id="642" name="Google Shape;642;p49"/>
          <p:cNvSpPr txBox="1">
            <a:spLocks noGrp="1"/>
          </p:cNvSpPr>
          <p:nvPr>
            <p:ph type="title" idx="4294967295"/>
          </p:nvPr>
        </p:nvSpPr>
        <p:spPr>
          <a:xfrm>
            <a:off x="4343300" y="454100"/>
            <a:ext cx="1437300" cy="485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3"/>
                </a:solidFill>
              </a:rPr>
              <a:t>Sources:</a:t>
            </a:r>
            <a:endParaRPr sz="2500">
              <a:solidFill>
                <a:schemeClr val="accent3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</Words>
  <Application>Microsoft Office PowerPoint</Application>
  <PresentationFormat>On-screen Show (16:9)</PresentationFormat>
  <Paragraphs>127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Urbanist SemiBold</vt:lpstr>
      <vt:lpstr>Urbanist Medium</vt:lpstr>
      <vt:lpstr>Urbanist</vt:lpstr>
      <vt:lpstr>Arial</vt:lpstr>
      <vt:lpstr>Dark Particles</vt:lpstr>
      <vt:lpstr>Quantum HPC Framework for Benchmarking &amp; Scalability</vt:lpstr>
      <vt:lpstr>Presentation Overview</vt:lpstr>
      <vt:lpstr>Weeks 1-2</vt:lpstr>
      <vt:lpstr>Project Folder</vt:lpstr>
      <vt:lpstr>ZZFeatureMap Circuit</vt:lpstr>
      <vt:lpstr>Library Comparisons </vt:lpstr>
      <vt:lpstr>AerSimulator</vt:lpstr>
      <vt:lpstr>Future Work / Roadmap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Kyle Hartness</cp:lastModifiedBy>
  <cp:revision>1</cp:revision>
  <dcterms:modified xsi:type="dcterms:W3CDTF">2026-08-07T00:54:50Z</dcterms:modified>
</cp:coreProperties>
</file>